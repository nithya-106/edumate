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9" r:id="rId2"/>
    <p:sldId id="268" r:id="rId3"/>
    <p:sldId id="270" r:id="rId4"/>
    <p:sldId id="271" r:id="rId5"/>
    <p:sldId id="258" r:id="rId6"/>
    <p:sldId id="281" r:id="rId7"/>
    <p:sldId id="284" r:id="rId8"/>
    <p:sldId id="285" r:id="rId9"/>
    <p:sldId id="265" r:id="rId10"/>
    <p:sldId id="287" r:id="rId11"/>
    <p:sldId id="264" r:id="rId12"/>
    <p:sldId id="278" r:id="rId13"/>
    <p:sldId id="259" r:id="rId14"/>
    <p:sldId id="266" r:id="rId15"/>
    <p:sldId id="275" r:id="rId16"/>
    <p:sldId id="262" r:id="rId17"/>
    <p:sldId id="286" r:id="rId18"/>
    <p:sldId id="276" r:id="rId19"/>
    <p:sldId id="260" r:id="rId20"/>
    <p:sldId id="261" r:id="rId21"/>
    <p:sldId id="279" r:id="rId22"/>
    <p:sldId id="280"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p:cViewPr>
        <p:scale>
          <a:sx n="71" d="100"/>
          <a:sy n="71" d="100"/>
        </p:scale>
        <p:origin x="1172" y="-4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41E88-5869-4B9B-A68F-D5C7121E5CA3}" type="datetimeFigureOut">
              <a:rPr lang="en-IN" smtClean="0"/>
              <a:t>27-10-2025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0FB103-940D-4B2D-9AF6-34C0DD7F3389}" type="slidenum">
              <a:rPr lang="en-IN" smtClean="0"/>
              <a:t>‹#›</a:t>
            </a:fld>
            <a:endParaRPr lang="en-IN"/>
          </a:p>
        </p:txBody>
      </p:sp>
    </p:spTree>
    <p:extLst>
      <p:ext uri="{BB962C8B-B14F-4D97-AF65-F5344CB8AC3E}">
        <p14:creationId xmlns:p14="http://schemas.microsoft.com/office/powerpoint/2010/main" val="2996397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0FB103-940D-4B2D-9AF6-34C0DD7F3389}" type="slidenum">
              <a:rPr lang="en-IN" smtClean="0"/>
              <a:t>5</a:t>
            </a:fld>
            <a:endParaRPr lang="en-IN"/>
          </a:p>
        </p:txBody>
      </p:sp>
    </p:spTree>
    <p:extLst>
      <p:ext uri="{BB962C8B-B14F-4D97-AF65-F5344CB8AC3E}">
        <p14:creationId xmlns:p14="http://schemas.microsoft.com/office/powerpoint/2010/main" val="3862631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5FED-F308-CF17-2303-289924FEA556}"/>
              </a:ext>
            </a:extLst>
          </p:cNvPr>
          <p:cNvSpPr>
            <a:spLocks noGrp="1"/>
          </p:cNvSpPr>
          <p:nvPr>
            <p:ph type="title"/>
          </p:nvPr>
        </p:nvSpPr>
        <p:spPr>
          <a:xfrm>
            <a:off x="259672" y="1131094"/>
            <a:ext cx="8662387" cy="994172"/>
          </a:xfrm>
        </p:spPr>
        <p:txBody>
          <a:bodyPr/>
          <a:lstStyle/>
          <a:p>
            <a:endParaRPr lang="en-US" dirty="0"/>
          </a:p>
        </p:txBody>
      </p:sp>
      <p:sp>
        <p:nvSpPr>
          <p:cNvPr id="4" name="Content Placeholder 3">
            <a:extLst>
              <a:ext uri="{FF2B5EF4-FFF2-40B4-BE49-F238E27FC236}">
                <a16:creationId xmlns:a16="http://schemas.microsoft.com/office/drawing/2014/main" id="{743F802F-AFDF-9B8E-2C80-A9A21BBC70C9}"/>
              </a:ext>
            </a:extLst>
          </p:cNvPr>
          <p:cNvSpPr>
            <a:spLocks noGrp="1"/>
          </p:cNvSpPr>
          <p:nvPr>
            <p:ph idx="1"/>
          </p:nvPr>
        </p:nvSpPr>
        <p:spPr>
          <a:xfrm>
            <a:off x="259672" y="2226469"/>
            <a:ext cx="8662387" cy="3263504"/>
          </a:xfrm>
        </p:spPr>
        <p:txBody>
          <a:bodyPr>
            <a:normAutofit fontScale="92500" lnSpcReduction="10000"/>
          </a:bodyPr>
          <a:lstStyle/>
          <a:p>
            <a:pPr marL="0" indent="0" algn="ctr">
              <a:buNone/>
            </a:pPr>
            <a:r>
              <a:rPr lang="en-US" sz="2700" dirty="0">
                <a:solidFill>
                  <a:schemeClr val="accent5">
                    <a:lumMod val="75000"/>
                  </a:schemeClr>
                </a:solidFill>
                <a:latin typeface="Times New Roman" panose="02020603050405020304" pitchFamily="18" charset="0"/>
                <a:cs typeface="Times New Roman" panose="02020603050405020304" pitchFamily="18" charset="0"/>
              </a:rPr>
              <a:t>Department of Information Science and Engineering</a:t>
            </a:r>
          </a:p>
          <a:p>
            <a:pPr marL="0" indent="0" algn="ctr">
              <a:buNone/>
            </a:pPr>
            <a:r>
              <a:rPr lang="en-US" sz="2400" dirty="0">
                <a:solidFill>
                  <a:schemeClr val="accent2">
                    <a:lumMod val="50000"/>
                  </a:schemeClr>
                </a:solidFill>
                <a:latin typeface="Times New Roman" panose="02020603050405020304" pitchFamily="18" charset="0"/>
                <a:cs typeface="Times New Roman" panose="02020603050405020304" pitchFamily="18" charset="0"/>
              </a:rPr>
              <a:t>EduMate</a:t>
            </a:r>
          </a:p>
          <a:p>
            <a:pPr marL="0" indent="0" algn="ctr">
              <a:buNone/>
            </a:pPr>
            <a:r>
              <a:rPr lang="en-US" sz="2400" dirty="0">
                <a:solidFill>
                  <a:schemeClr val="accent2">
                    <a:lumMod val="50000"/>
                  </a:schemeClr>
                </a:solidFill>
                <a:latin typeface="Times New Roman" panose="02020603050405020304" pitchFamily="18" charset="0"/>
                <a:cs typeface="Times New Roman" panose="02020603050405020304" pitchFamily="18" charset="0"/>
              </a:rPr>
              <a:t>Quality education</a:t>
            </a:r>
          </a:p>
          <a:p>
            <a:pPr marL="0" indent="0" algn="ctr">
              <a:buNone/>
            </a:pPr>
            <a:r>
              <a:rPr lang="en-US" sz="2400" dirty="0">
                <a:solidFill>
                  <a:schemeClr val="accent2">
                    <a:lumMod val="50000"/>
                  </a:schemeClr>
                </a:solidFill>
                <a:latin typeface="Times New Roman" panose="02020603050405020304" pitchFamily="18" charset="0"/>
                <a:cs typeface="Times New Roman" panose="02020603050405020304" pitchFamily="18" charset="0"/>
              </a:rPr>
              <a:t>Quality Education, Livelihood And Creative Opportunities</a:t>
            </a:r>
          </a:p>
          <a:p>
            <a:pPr marL="0" indent="0" algn="ctr">
              <a:buNone/>
            </a:pPr>
            <a:endParaRPr lang="en-US"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Nithya RC   – 1NH22IS106 			Project guide Name : Ms. Divya K V</a:t>
            </a:r>
          </a:p>
          <a:p>
            <a:pPr marL="0" indent="0">
              <a:buNone/>
            </a:pPr>
            <a:r>
              <a:rPr lang="en-US" sz="1800" dirty="0">
                <a:latin typeface="Times New Roman" panose="02020603050405020304" pitchFamily="18" charset="0"/>
                <a:cs typeface="Times New Roman" panose="02020603050405020304" pitchFamily="18" charset="0"/>
              </a:rPr>
              <a:t>Sahana NR  – 1NH22IS143					 Assistant professor</a:t>
            </a:r>
          </a:p>
          <a:p>
            <a:pPr marL="0" indent="0">
              <a:buNone/>
            </a:pPr>
            <a:r>
              <a:rPr lang="en-US" sz="1800" dirty="0">
                <a:latin typeface="Times New Roman" panose="02020603050405020304" pitchFamily="18" charset="0"/>
                <a:cs typeface="Times New Roman" panose="02020603050405020304" pitchFamily="18" charset="0"/>
              </a:rPr>
              <a:t>Sanjana HL – 1NH22IS147</a:t>
            </a:r>
          </a:p>
          <a:p>
            <a:pPr marL="0" indent="0">
              <a:buNone/>
            </a:pPr>
            <a:r>
              <a:rPr lang="en-US" sz="1800" dirty="0">
                <a:latin typeface="Times New Roman" panose="02020603050405020304" pitchFamily="18" charset="0"/>
                <a:cs typeface="Times New Roman" panose="02020603050405020304" pitchFamily="18" charset="0"/>
              </a:rPr>
              <a:t>Poornima T – 1NH22IS196</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8436" name="Picture 2">
            <a:extLst>
              <a:ext uri="{FF2B5EF4-FFF2-40B4-BE49-F238E27FC236}">
                <a16:creationId xmlns:a16="http://schemas.microsoft.com/office/drawing/2014/main" id="{6BB22462-8C70-5B16-8955-31D9F4457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3" y="1275755"/>
            <a:ext cx="549339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AGENDA</a:t>
            </a:r>
            <a:endParaRPr lang="en-GB" dirty="0"/>
          </a:p>
        </p:txBody>
      </p:sp>
      <p:sp>
        <p:nvSpPr>
          <p:cNvPr id="3" name="Content Placeholder 2"/>
          <p:cNvSpPr>
            <a:spLocks noGrp="1"/>
          </p:cNvSpPr>
          <p:nvPr>
            <p:ph idx="1"/>
          </p:nvPr>
        </p:nvSpPr>
        <p:spPr/>
        <p:txBody>
          <a:bodyPr>
            <a:normAutofit fontScale="62500" lnSpcReduction="20000"/>
          </a:bodyPr>
          <a:lstStyle/>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Design</a:t>
            </a:r>
          </a:p>
          <a:p>
            <a:pPr lvl="1">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Use case/class/Sequence Diagram</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Methodology</a:t>
            </a:r>
          </a:p>
          <a:p>
            <a:pPr lvl="1">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Algorithm</a:t>
            </a:r>
          </a:p>
          <a:p>
            <a:pPr lvl="1">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Flowchart</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Implementation </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Results</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Societal Benefits</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Paper indexing/acceptance status</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F92E6-DFB1-6126-F802-282588FEBD5F}"/>
              </a:ext>
            </a:extLst>
          </p:cNvPr>
          <p:cNvSpPr>
            <a:spLocks noGrp="1"/>
          </p:cNvSpPr>
          <p:nvPr>
            <p:ph type="title"/>
          </p:nvPr>
        </p:nvSpPr>
        <p:spPr>
          <a:xfrm>
            <a:off x="425116" y="533400"/>
            <a:ext cx="7886700" cy="994172"/>
          </a:xfrm>
        </p:spPr>
        <p:txBody>
          <a:bodyPr>
            <a:normAutofit/>
          </a:bodyPr>
          <a:lstStyle/>
          <a:p>
            <a:pPr algn="ctr"/>
            <a:r>
              <a:rPr lang="en-US" altLang="en-US" dirty="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BF688B13-4143-073F-BEE0-8DC77EF33C88}"/>
              </a:ext>
            </a:extLst>
          </p:cNvPr>
          <p:cNvSpPr>
            <a:spLocks noGrp="1"/>
          </p:cNvSpPr>
          <p:nvPr>
            <p:ph idx="1"/>
          </p:nvPr>
        </p:nvSpPr>
        <p:spPr/>
        <p:txBody>
          <a:bodyPr>
            <a:noAutofit/>
          </a:bodyPr>
          <a:lstStyle/>
          <a:p>
            <a:pPr marL="0" indent="0" algn="just">
              <a:buNone/>
            </a:pPr>
            <a:r>
              <a:rPr lang="en-US" sz="1650" dirty="0">
                <a:latin typeface="Times New Roman" panose="02020603050405020304" pitchFamily="18" charset="0"/>
                <a:cs typeface="Times New Roman" panose="02020603050405020304" pitchFamily="18" charset="0"/>
              </a:rPr>
              <a:t>EduMate is a personalized virtual teaching platform designed to provide a collaborative, inclusive, and multilingual learning environment. It supports real-time language translation, enabling students from diverse linguistic backgrounds to learn effectively. Teachers can log in to upload recorded videos or conduct live sessions, while students can access lessons, resources, and participate in real-time activities. Key features include smart role assignment (like peer tutor or guide), reminders, to-do lists, notes, bookmarks, a smart study timer, and flashcard creation. The platform integrates AI to suggest study materials, monitor participation, and generate performance feedback. EduMate is built using Python and Flask for the backend, HTML/CSS/JavaScript for the frontend, SQLite for data storage and login authentication, and Google Translate API for real-time translation. These technologies were chosen for their simplicity, portability, and suitability for educational app development. Overall, EduMate aims to enhance engagement, accessibility, and personalized learning using easy yet effective tools.</a:t>
            </a:r>
            <a:endParaRPr lang="en-IN" sz="16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593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4A6FF-8271-A54A-233A-D25A9EE7D12B}"/>
              </a:ext>
            </a:extLst>
          </p:cNvPr>
          <p:cNvSpPr>
            <a:spLocks noGrp="1"/>
          </p:cNvSpPr>
          <p:nvPr>
            <p:ph type="title"/>
          </p:nvPr>
        </p:nvSpPr>
        <p:spPr>
          <a:xfrm>
            <a:off x="628650" y="533400"/>
            <a:ext cx="7886700" cy="994172"/>
          </a:xfrm>
        </p:spPr>
        <p:txBody>
          <a:bodyPr>
            <a:normAutofit/>
          </a:bodyPr>
          <a:lstStyle/>
          <a:p>
            <a:pPr algn="ctr"/>
            <a:r>
              <a:rPr lang="en-US" dirty="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66629110-4F07-E259-CA2E-9F3C024591EE}"/>
              </a:ext>
            </a:extLst>
          </p:cNvPr>
          <p:cNvSpPr>
            <a:spLocks noGrp="1"/>
          </p:cNvSpPr>
          <p:nvPr>
            <p:ph idx="1"/>
          </p:nvPr>
        </p:nvSpPr>
        <p:spPr>
          <a:xfrm>
            <a:off x="628650" y="1624613"/>
            <a:ext cx="7886700" cy="3608773"/>
          </a:xfrm>
        </p:spPr>
        <p:txBody>
          <a:bodyPr>
            <a:normAutofit fontScale="55000" lnSpcReduction="20000"/>
          </a:bodyPr>
          <a:lstStyle/>
          <a:p>
            <a:pPr algn="just"/>
            <a:r>
              <a:rPr lang="en-US" sz="2900" dirty="0">
                <a:cs typeface="Times New Roman" panose="02020603050405020304" pitchFamily="18" charset="0"/>
              </a:rPr>
              <a:t>EduMate is a personalized virtual teaching platform for collaborative and inclusive learning.</a:t>
            </a:r>
          </a:p>
          <a:p>
            <a:pPr algn="just"/>
            <a:r>
              <a:rPr lang="en-US" sz="2900" dirty="0">
                <a:cs typeface="Times New Roman" panose="02020603050405020304" pitchFamily="18" charset="0"/>
              </a:rPr>
              <a:t>Supports multilingual students with real-time language translation using Google Translate API.</a:t>
            </a:r>
          </a:p>
          <a:p>
            <a:pPr algn="just"/>
            <a:r>
              <a:rPr lang="en-US" sz="2900" dirty="0">
                <a:cs typeface="Times New Roman" panose="02020603050405020304" pitchFamily="18" charset="0"/>
              </a:rPr>
              <a:t>Teachers can upload recorded lessons or conduct live sessions via dedicated login portals.</a:t>
            </a:r>
          </a:p>
          <a:p>
            <a:pPr algn="just"/>
            <a:r>
              <a:rPr lang="en-US" sz="2900" dirty="0">
                <a:cs typeface="Times New Roman" panose="02020603050405020304" pitchFamily="18" charset="0"/>
              </a:rPr>
              <a:t>Students can access lessons, interact in real-time, and use smart study tools.</a:t>
            </a:r>
          </a:p>
          <a:p>
            <a:pPr algn="just"/>
            <a:r>
              <a:rPr lang="en-US" sz="2900" dirty="0">
                <a:cs typeface="Times New Roman" panose="02020603050405020304" pitchFamily="18" charset="0"/>
              </a:rPr>
              <a:t>Features include:</a:t>
            </a:r>
          </a:p>
          <a:p>
            <a:pPr lvl="1" algn="just"/>
            <a:r>
              <a:rPr lang="en-US" sz="2900" dirty="0">
                <a:cs typeface="Times New Roman" panose="02020603050405020304" pitchFamily="18" charset="0"/>
              </a:rPr>
              <a:t>Smart role assignment (peer tutor/guide)</a:t>
            </a:r>
          </a:p>
          <a:p>
            <a:pPr lvl="1" algn="just"/>
            <a:r>
              <a:rPr lang="en-US" sz="2900" dirty="0">
                <a:cs typeface="Times New Roman" panose="02020603050405020304" pitchFamily="18" charset="0"/>
              </a:rPr>
              <a:t>Reminders, to-do lists, notes, bookmarks</a:t>
            </a:r>
          </a:p>
          <a:p>
            <a:pPr lvl="1" algn="just"/>
            <a:r>
              <a:rPr lang="en-US" sz="2900" dirty="0">
                <a:cs typeface="Times New Roman" panose="02020603050405020304" pitchFamily="18" charset="0"/>
              </a:rPr>
              <a:t>Smart study timer and custom flashcards</a:t>
            </a:r>
          </a:p>
          <a:p>
            <a:pPr algn="just"/>
            <a:r>
              <a:rPr lang="en-US" sz="2900" dirty="0">
                <a:cs typeface="Times New Roman" panose="02020603050405020304" pitchFamily="18" charset="0"/>
              </a:rPr>
              <a:t>AI integration provides material recommendations, tracks participation, and gives performance insights.</a:t>
            </a:r>
          </a:p>
          <a:p>
            <a:pPr algn="just"/>
            <a:r>
              <a:rPr lang="en-US" sz="2900" dirty="0">
                <a:cs typeface="Times New Roman" panose="02020603050405020304" pitchFamily="18" charset="0"/>
              </a:rPr>
              <a:t>Built with Flask, HTML/CSS/JavaScript, SQLite, and Python for rapid and accessible development</a:t>
            </a:r>
            <a:r>
              <a:rPr lang="en-US" sz="2900" dirty="0"/>
              <a:t>.</a:t>
            </a:r>
            <a:endParaRPr lang="en-IN" sz="2900" dirty="0"/>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71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Survey</a:t>
            </a:r>
          </a:p>
        </p:txBody>
      </p:sp>
      <p:graphicFrame>
        <p:nvGraphicFramePr>
          <p:cNvPr id="3" name="Table 2">
            <a:extLst>
              <a:ext uri="{FF2B5EF4-FFF2-40B4-BE49-F238E27FC236}">
                <a16:creationId xmlns:a16="http://schemas.microsoft.com/office/drawing/2014/main" id="{525ADFA5-E43A-31A1-D639-8BFCC9A72C90}"/>
              </a:ext>
            </a:extLst>
          </p:cNvPr>
          <p:cNvGraphicFramePr>
            <a:graphicFrameLocks noGrp="1"/>
          </p:cNvGraphicFramePr>
          <p:nvPr>
            <p:extLst>
              <p:ext uri="{D42A27DB-BD31-4B8C-83A1-F6EECF244321}">
                <p14:modId xmlns:p14="http://schemas.microsoft.com/office/powerpoint/2010/main" val="4060343035"/>
              </p:ext>
            </p:extLst>
          </p:nvPr>
        </p:nvGraphicFramePr>
        <p:xfrm>
          <a:off x="457200" y="1524000"/>
          <a:ext cx="8382000" cy="4044696"/>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133562806"/>
                    </a:ext>
                  </a:extLst>
                </a:gridCol>
                <a:gridCol w="1676400">
                  <a:extLst>
                    <a:ext uri="{9D8B030D-6E8A-4147-A177-3AD203B41FA5}">
                      <a16:colId xmlns:a16="http://schemas.microsoft.com/office/drawing/2014/main" val="2105258746"/>
                    </a:ext>
                  </a:extLst>
                </a:gridCol>
                <a:gridCol w="1676400">
                  <a:extLst>
                    <a:ext uri="{9D8B030D-6E8A-4147-A177-3AD203B41FA5}">
                      <a16:colId xmlns:a16="http://schemas.microsoft.com/office/drawing/2014/main" val="3829864789"/>
                    </a:ext>
                  </a:extLst>
                </a:gridCol>
                <a:gridCol w="1676400">
                  <a:extLst>
                    <a:ext uri="{9D8B030D-6E8A-4147-A177-3AD203B41FA5}">
                      <a16:colId xmlns:a16="http://schemas.microsoft.com/office/drawing/2014/main" val="422528403"/>
                    </a:ext>
                  </a:extLst>
                </a:gridCol>
                <a:gridCol w="1676400">
                  <a:extLst>
                    <a:ext uri="{9D8B030D-6E8A-4147-A177-3AD203B41FA5}">
                      <a16:colId xmlns:a16="http://schemas.microsoft.com/office/drawing/2014/main" val="283396627"/>
                    </a:ext>
                  </a:extLst>
                </a:gridCol>
              </a:tblGrid>
              <a:tr h="370840">
                <a:tc>
                  <a:txBody>
                    <a:bodyPr/>
                    <a:lstStyle/>
                    <a:p>
                      <a:r>
                        <a:rPr lang="en-GB" dirty="0"/>
                        <a:t>Title</a:t>
                      </a:r>
                    </a:p>
                  </a:txBody>
                  <a:tcPr/>
                </a:tc>
                <a:tc>
                  <a:txBody>
                    <a:bodyPr/>
                    <a:lstStyle/>
                    <a:p>
                      <a:r>
                        <a:rPr lang="en-GB" dirty="0"/>
                        <a:t>Year of publication</a:t>
                      </a:r>
                    </a:p>
                  </a:txBody>
                  <a:tcPr/>
                </a:tc>
                <a:tc>
                  <a:txBody>
                    <a:bodyPr/>
                    <a:lstStyle/>
                    <a:p>
                      <a:r>
                        <a:rPr lang="en-GB" dirty="0"/>
                        <a:t>Method in brief</a:t>
                      </a:r>
                    </a:p>
                  </a:txBody>
                  <a:tcPr/>
                </a:tc>
                <a:tc>
                  <a:txBody>
                    <a:bodyPr/>
                    <a:lstStyle/>
                    <a:p>
                      <a:r>
                        <a:rPr lang="en-GB" dirty="0"/>
                        <a:t>Gap</a:t>
                      </a:r>
                    </a:p>
                  </a:txBody>
                  <a:tcPr/>
                </a:tc>
                <a:tc>
                  <a:txBody>
                    <a:bodyPr/>
                    <a:lstStyle/>
                    <a:p>
                      <a:r>
                        <a:rPr lang="en-GB" dirty="0"/>
                        <a:t>Your </a:t>
                      </a:r>
                      <a:r>
                        <a:rPr lang="en-GB" dirty="0" err="1"/>
                        <a:t>novelity</a:t>
                      </a:r>
                      <a:endParaRPr lang="en-GB" dirty="0"/>
                    </a:p>
                  </a:txBody>
                  <a:tcPr/>
                </a:tc>
                <a:extLst>
                  <a:ext uri="{0D108BD9-81ED-4DB2-BD59-A6C34878D82A}">
                    <a16:rowId xmlns:a16="http://schemas.microsoft.com/office/drawing/2014/main" val="1810302194"/>
                  </a:ext>
                </a:extLst>
              </a:tr>
              <a:tr h="370840">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A Virtual Teaching Assistant for Personalized Learning</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2019</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Developed chatbot-based virtual teaching assistant using IBM Watson to enhance student learning.</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Limited to a specific course; lacks adaptability to diverse subjects.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Expandable framework adaptable across multiple domains and subjects.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48209647"/>
                  </a:ext>
                </a:extLst>
              </a:tr>
              <a:tr h="370840">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Web-based Evaluation System for Online Courses and Learning Management Systems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2018</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Introduced a web-based tool for feedback collection to improve online course content and platform usability.</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Dependent on user surveys; evaluates course design but not actual learning outcomes.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Integrates automated analytics to measure both course design and student outcomes.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88497961"/>
                  </a:ext>
                </a:extLst>
              </a:tr>
              <a:tr h="370840">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The Effectiveness of a Personalized Virtual Fitness Trainer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2020</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Applied AI algorithms to create a virtual fitness trainer for physical education.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Focused solely on physical education; limited application scope.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Extendable to diverse learning fields beyond physical education.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10868924"/>
                  </a:ext>
                </a:extLst>
              </a:tr>
              <a:tr h="370840">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Personalized Education for Teachers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2016</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Introduced personalized education concepts tailored for teacher development.</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Purely theoretical; no empirical validation.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Design data-driven models with real implementation for teachers.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88271626"/>
                  </a:ext>
                </a:extLst>
              </a:tr>
            </a:tbl>
          </a:graphicData>
        </a:graphic>
      </p:graphicFrame>
      <p:sp>
        <p:nvSpPr>
          <p:cNvPr id="6" name="Content Placeholder 5">
            <a:extLst>
              <a:ext uri="{FF2B5EF4-FFF2-40B4-BE49-F238E27FC236}">
                <a16:creationId xmlns:a16="http://schemas.microsoft.com/office/drawing/2014/main" id="{FFD8737C-D008-C680-7C19-93612393D3DD}"/>
              </a:ext>
            </a:extLst>
          </p:cNvPr>
          <p:cNvSpPr>
            <a:spLocks noGrp="1"/>
          </p:cNvSpPr>
          <p:nvPr>
            <p:ph idx="1"/>
          </p:nvPr>
        </p:nvSpPr>
        <p:spPr>
          <a:xfrm flipV="1">
            <a:off x="8534400" y="1417639"/>
            <a:ext cx="228600" cy="106362"/>
          </a:xfrm>
        </p:spPr>
        <p:txBody>
          <a:bodyPr>
            <a:normAutofit fontScale="25000" lnSpcReduction="20000"/>
          </a:bodyPr>
          <a:lstStyle/>
          <a:p>
            <a:pPr marL="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1B5D-4A66-0E57-795B-71673A3A77CE}"/>
              </a:ext>
            </a:extLst>
          </p:cNvPr>
          <p:cNvSpPr>
            <a:spLocks noGrp="1"/>
          </p:cNvSpPr>
          <p:nvPr>
            <p:ph type="ctrTitle"/>
          </p:nvPr>
        </p:nvSpPr>
        <p:spPr>
          <a:xfrm>
            <a:off x="762000" y="609600"/>
            <a:ext cx="7772400" cy="1470025"/>
          </a:xfrm>
        </p:spPr>
        <p:txBody>
          <a:bodyPr>
            <a:normAutofit/>
          </a:bodyPr>
          <a:lstStyle/>
          <a:p>
            <a:r>
              <a:rPr lang="en-US" sz="2800" dirty="0">
                <a:latin typeface="Times New Roman" panose="02020603050405020304" pitchFamily="18" charset="0"/>
                <a:cs typeface="Times New Roman" panose="02020603050405020304" pitchFamily="18" charset="0"/>
              </a:rPr>
              <a:t>PROBLEM STATEMENT</a:t>
            </a:r>
            <a:br>
              <a:rPr lang="en-US"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2CBD64A7-2954-0E12-5605-6639124FAAEA}"/>
              </a:ext>
            </a:extLst>
          </p:cNvPr>
          <p:cNvSpPr>
            <a:spLocks noGrp="1"/>
          </p:cNvSpPr>
          <p:nvPr>
            <p:ph type="subTitle" idx="1"/>
          </p:nvPr>
        </p:nvSpPr>
        <p:spPr>
          <a:xfrm>
            <a:off x="533400" y="2079624"/>
            <a:ext cx="8229600" cy="2339975"/>
          </a:xfrm>
        </p:spPr>
        <p:txBody>
          <a:bodyPr>
            <a:normAutofit/>
          </a:bodyPr>
          <a:lstStyle/>
          <a:p>
            <a:pPr algn="just"/>
            <a:r>
              <a:rPr lang="en-US" sz="2000" dirty="0">
                <a:solidFill>
                  <a:schemeClr val="tx1"/>
                </a:solidFill>
                <a:latin typeface="Arial" panose="020B0604020202020204" pitchFamily="34" charset="0"/>
                <a:cs typeface="Arial" panose="020B0604020202020204" pitchFamily="34" charset="0"/>
              </a:rPr>
              <a:t>To develop a collaborative learning platform that supports real-time translation for multilingual students and assigns roles like peer tutor or guide. The platform should include interactive sessions with teachers and AI-driven assistance to enhance personalized learning, ensure smooth communication, and create an inclusive learning environment for students from diverse language backgrounds</a:t>
            </a:r>
            <a:endParaRPr lang="en-IN"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9151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545BBB-8BE1-6579-7AFA-C8343A417454}"/>
              </a:ext>
            </a:extLst>
          </p:cNvPr>
          <p:cNvSpPr txBox="1"/>
          <p:nvPr/>
        </p:nvSpPr>
        <p:spPr>
          <a:xfrm>
            <a:off x="1981200" y="118199"/>
            <a:ext cx="5181600" cy="769441"/>
          </a:xfrm>
          <a:prstGeom prst="rect">
            <a:avLst/>
          </a:prstGeom>
          <a:noFill/>
        </p:spPr>
        <p:txBody>
          <a:bodyPr wrap="square" rtlCol="0">
            <a:spAutoFit/>
          </a:bodyPr>
          <a:lstStyle/>
          <a:p>
            <a:pPr algn="ctr"/>
            <a:r>
              <a:rPr lang="en-GB" sz="4400" dirty="0"/>
              <a:t>Design</a:t>
            </a:r>
            <a:endParaRPr lang="en-US" sz="4400" dirty="0"/>
          </a:p>
        </p:txBody>
      </p:sp>
      <p:pic>
        <p:nvPicPr>
          <p:cNvPr id="5" name="Picture 4" descr="A screenshot of a computer screen&#10;&#10;AI-generated content may be incorrect.">
            <a:extLst>
              <a:ext uri="{FF2B5EF4-FFF2-40B4-BE49-F238E27FC236}">
                <a16:creationId xmlns:a16="http://schemas.microsoft.com/office/drawing/2014/main" id="{75203156-CA37-2875-D8C7-709288527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760" y="918120"/>
            <a:ext cx="7924800" cy="5334000"/>
          </a:xfrm>
          <a:prstGeom prst="rect">
            <a:avLst/>
          </a:prstGeom>
        </p:spPr>
      </p:pic>
      <p:sp>
        <p:nvSpPr>
          <p:cNvPr id="6" name="TextBox 5">
            <a:extLst>
              <a:ext uri="{FF2B5EF4-FFF2-40B4-BE49-F238E27FC236}">
                <a16:creationId xmlns:a16="http://schemas.microsoft.com/office/drawing/2014/main" id="{2B465D5D-6D80-AD41-A7BF-3F870E80099D}"/>
              </a:ext>
            </a:extLst>
          </p:cNvPr>
          <p:cNvSpPr txBox="1"/>
          <p:nvPr/>
        </p:nvSpPr>
        <p:spPr>
          <a:xfrm>
            <a:off x="2971800" y="5715000"/>
            <a:ext cx="2590800" cy="646331"/>
          </a:xfrm>
          <a:prstGeom prst="rect">
            <a:avLst/>
          </a:prstGeom>
          <a:noFill/>
        </p:spPr>
        <p:txBody>
          <a:bodyPr wrap="square" rtlCol="0">
            <a:spAutoFit/>
          </a:bodyPr>
          <a:lstStyle/>
          <a:p>
            <a:r>
              <a:rPr lang="en-US" dirty="0"/>
              <a:t>Sequence diagram of </a:t>
            </a:r>
            <a:r>
              <a:rPr lang="en-US" dirty="0" err="1"/>
              <a:t>Edumate</a:t>
            </a:r>
            <a:r>
              <a:rPr lang="en-US" dirty="0"/>
              <a:t> System</a:t>
            </a:r>
          </a:p>
        </p:txBody>
      </p:sp>
    </p:spTree>
    <p:extLst>
      <p:ext uri="{BB962C8B-B14F-4D97-AF65-F5344CB8AC3E}">
        <p14:creationId xmlns:p14="http://schemas.microsoft.com/office/powerpoint/2010/main" val="2517695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ABDB8-77E2-3B9C-BDC0-D453F1F608FC}"/>
              </a:ext>
            </a:extLst>
          </p:cNvPr>
          <p:cNvSpPr txBox="1"/>
          <p:nvPr/>
        </p:nvSpPr>
        <p:spPr>
          <a:xfrm>
            <a:off x="1066800" y="457200"/>
            <a:ext cx="7391400" cy="4708981"/>
          </a:xfrm>
          <a:prstGeom prst="rect">
            <a:avLst/>
          </a:prstGeom>
          <a:noFill/>
        </p:spPr>
        <p:txBody>
          <a:bodyPr wrap="square" rtlCol="0">
            <a:spAutoFit/>
          </a:bodyPr>
          <a:lstStyle/>
          <a:p>
            <a:r>
              <a:rPr lang="en-US" sz="3600" dirty="0"/>
              <a:t>Sequence Diagram</a:t>
            </a:r>
          </a:p>
          <a:p>
            <a:pPr marL="285750" indent="-285750">
              <a:buFont typeface="Wingdings" panose="05000000000000000000" pitchFamily="2" charset="2"/>
              <a:buChar char="q"/>
            </a:pPr>
            <a:r>
              <a:rPr lang="en-US" sz="2400" dirty="0"/>
              <a:t>Shows how a student interacts with the </a:t>
            </a:r>
            <a:r>
              <a:rPr lang="en-US" sz="2400" dirty="0" err="1"/>
              <a:t>EduMate</a:t>
            </a:r>
            <a:r>
              <a:rPr lang="en-US" sz="2400" dirty="0"/>
              <a:t> System modules.</a:t>
            </a:r>
          </a:p>
          <a:p>
            <a:pPr marL="285750" indent="-285750">
              <a:buFont typeface="Wingdings" panose="05000000000000000000" pitchFamily="2" charset="2"/>
              <a:buChar char="q"/>
            </a:pPr>
            <a:r>
              <a:rPr lang="en-US" sz="2400" dirty="0"/>
              <a:t>The student logs in, and credentials are verified by the Account Management module.</a:t>
            </a:r>
          </a:p>
          <a:p>
            <a:pPr marL="285750" indent="-285750">
              <a:buFont typeface="Wingdings" panose="05000000000000000000" pitchFamily="2" charset="2"/>
              <a:buChar char="q"/>
            </a:pPr>
            <a:r>
              <a:rPr lang="en-US" sz="2400" dirty="0"/>
              <a:t>After login, the student searches and enrolls in a course through the Course Enrollment module.</a:t>
            </a:r>
          </a:p>
          <a:p>
            <a:pPr marL="285750" indent="-285750">
              <a:buFont typeface="Wingdings" panose="05000000000000000000" pitchFamily="2" charset="2"/>
              <a:buChar char="q"/>
            </a:pPr>
            <a:r>
              <a:rPr lang="en-US" sz="2400" dirty="0"/>
              <a:t>The student joins live classes via the Live Classes </a:t>
            </a:r>
            <a:r>
              <a:rPr lang="en-US" sz="2400" dirty="0" err="1"/>
              <a:t>module.During</a:t>
            </a:r>
            <a:r>
              <a:rPr lang="en-US" sz="2400" dirty="0"/>
              <a:t> or after class, the student posts doubts, which go to the Doubt Clarification module.</a:t>
            </a:r>
          </a:p>
          <a:p>
            <a:pPr marL="285750" indent="-285750">
              <a:buFont typeface="Wingdings" panose="05000000000000000000" pitchFamily="2" charset="2"/>
              <a:buChar char="q"/>
            </a:pPr>
            <a:r>
              <a:rPr lang="en-US" sz="2400" dirty="0"/>
              <a:t>The professor receives and responds to the query, and the answer is displayed to the student.</a:t>
            </a:r>
          </a:p>
        </p:txBody>
      </p:sp>
    </p:spTree>
    <p:extLst>
      <p:ext uri="{BB962C8B-B14F-4D97-AF65-F5344CB8AC3E}">
        <p14:creationId xmlns:p14="http://schemas.microsoft.com/office/powerpoint/2010/main" val="68321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p>
        </p:txBody>
      </p:sp>
      <p:sp>
        <p:nvSpPr>
          <p:cNvPr id="4" name="Rectangle 1">
            <a:extLst>
              <a:ext uri="{FF2B5EF4-FFF2-40B4-BE49-F238E27FC236}">
                <a16:creationId xmlns:a16="http://schemas.microsoft.com/office/drawing/2014/main" id="{DB4FA1FF-FC21-B747-9C10-D1399A41B77B}"/>
              </a:ext>
            </a:extLst>
          </p:cNvPr>
          <p:cNvSpPr>
            <a:spLocks noGrp="1" noChangeArrowheads="1"/>
          </p:cNvSpPr>
          <p:nvPr>
            <p:ph idx="1"/>
          </p:nvPr>
        </p:nvSpPr>
        <p:spPr bwMode="auto">
          <a:xfrm>
            <a:off x="457200" y="1185526"/>
            <a:ext cx="7620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Approach:</a:t>
            </a:r>
            <a:r>
              <a:rPr kumimoji="0" lang="en-US" altLang="en-US" sz="1800" b="0" i="0" u="none" strike="noStrike" cap="none" normalizeH="0" baseline="0" dirty="0">
                <a:ln>
                  <a:noFill/>
                </a:ln>
                <a:solidFill>
                  <a:schemeClr val="tx1"/>
                </a:solidFill>
                <a:effectLst/>
                <a:latin typeface="Arial" panose="020B0604020202020204" pitchFamily="34" charset="0"/>
              </a:rPr>
              <a:t> Developmental Research Methodology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Designed, developed, and iteratively tested </a:t>
            </a:r>
            <a:r>
              <a:rPr kumimoji="0" lang="en-US" altLang="en-US" sz="1800" b="0" i="0" u="none" strike="noStrike" cap="none" normalizeH="0" baseline="0" dirty="0" err="1">
                <a:ln>
                  <a:noFill/>
                </a:ln>
                <a:solidFill>
                  <a:schemeClr val="tx1"/>
                </a:solidFill>
                <a:effectLst/>
                <a:latin typeface="Arial" panose="020B0604020202020204" pitchFamily="34" charset="0"/>
              </a:rPr>
              <a:t>EduMate</a:t>
            </a:r>
            <a:r>
              <a:rPr kumimoji="0" lang="en-US" altLang="en-US" sz="1800" b="0" i="0" u="none" strike="noStrike" cap="none" normalizeH="0" baseline="0" dirty="0">
                <a:ln>
                  <a:noFill/>
                </a:ln>
                <a:solidFill>
                  <a:schemeClr val="tx1"/>
                </a:solidFill>
                <a:effectLst/>
                <a:latin typeface="Arial" panose="020B0604020202020204" pitchFamily="34" charset="0"/>
              </a:rPr>
              <a:t> prototype.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Steps Followed: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Requirement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Identified challenges in existing LMS (language barriers, lack of personalization, no real-time assistance).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Defined needs: secure login, multilingual lessons, quizzes, chatbot support.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System Design: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Role-based modular architecture (Admin, Teacher, Student).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RESTful API endpoints for login, register, lesson upload, quiz, chatbot.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Implementation: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Flask backend + SQLite for persistence.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for simple, interactive frontend dashboards.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Testing &amp; Validation: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Functional testing with sample users (login success, lesson uploads, quiz scoring).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6E95-80D5-D04B-74CB-E4F126114090}"/>
              </a:ext>
            </a:extLst>
          </p:cNvPr>
          <p:cNvSpPr>
            <a:spLocks noGrp="1"/>
          </p:cNvSpPr>
          <p:nvPr>
            <p:ph type="title"/>
          </p:nvPr>
        </p:nvSpPr>
        <p:spPr/>
        <p:txBody>
          <a:bodyPr>
            <a:normAutofit/>
          </a:bodyPr>
          <a:lstStyle/>
          <a:p>
            <a:pPr algn="l"/>
            <a:r>
              <a:rPr lang="en-US" sz="3200" dirty="0"/>
              <a:t>Algorithm</a:t>
            </a:r>
          </a:p>
        </p:txBody>
      </p:sp>
      <p:sp>
        <p:nvSpPr>
          <p:cNvPr id="3" name="Content Placeholder 2">
            <a:extLst>
              <a:ext uri="{FF2B5EF4-FFF2-40B4-BE49-F238E27FC236}">
                <a16:creationId xmlns:a16="http://schemas.microsoft.com/office/drawing/2014/main" id="{EF91D05A-2B4C-2A94-9A6B-60BB9F9930BA}"/>
              </a:ext>
            </a:extLst>
          </p:cNvPr>
          <p:cNvSpPr>
            <a:spLocks noGrp="1"/>
          </p:cNvSpPr>
          <p:nvPr>
            <p:ph idx="1"/>
          </p:nvPr>
        </p:nvSpPr>
        <p:spPr/>
        <p:txBody>
          <a:bodyPr>
            <a:normAutofit fontScale="70000" lnSpcReduction="20000"/>
          </a:bodyPr>
          <a:lstStyle/>
          <a:p>
            <a:r>
              <a:rPr lang="en-US" dirty="0"/>
              <a:t>1. Start</a:t>
            </a:r>
          </a:p>
          <a:p>
            <a:r>
              <a:rPr lang="en-US" dirty="0"/>
              <a:t>2. User selects role → Student / Professor / Admin</a:t>
            </a:r>
          </a:p>
          <a:p>
            <a:r>
              <a:rPr lang="en-US" dirty="0"/>
              <a:t>3. Login or </a:t>
            </a:r>
            <a:r>
              <a:rPr lang="en-US" dirty="0" err="1"/>
              <a:t>RegisterIf</a:t>
            </a:r>
            <a:r>
              <a:rPr lang="en-US" dirty="0"/>
              <a:t> new user, create </a:t>
            </a:r>
            <a:r>
              <a:rPr lang="en-US" dirty="0" err="1"/>
              <a:t>accountIf</a:t>
            </a:r>
            <a:r>
              <a:rPr lang="en-US" dirty="0"/>
              <a:t> existing user, validate credentials</a:t>
            </a:r>
          </a:p>
          <a:p>
            <a:r>
              <a:rPr lang="en-US" dirty="0"/>
              <a:t>4. If login </a:t>
            </a:r>
            <a:r>
              <a:rPr lang="en-US" dirty="0" err="1"/>
              <a:t>successful:Display</a:t>
            </a:r>
            <a:r>
              <a:rPr lang="en-US" dirty="0"/>
              <a:t> dashboard based on user role</a:t>
            </a:r>
          </a:p>
          <a:p>
            <a:r>
              <a:rPr lang="en-US" dirty="0"/>
              <a:t>5. For </a:t>
            </a:r>
            <a:r>
              <a:rPr lang="en-US" dirty="0" err="1"/>
              <a:t>Student:Search</a:t>
            </a:r>
            <a:r>
              <a:rPr lang="en-US" dirty="0"/>
              <a:t> and enroll in available </a:t>
            </a:r>
            <a:r>
              <a:rPr lang="en-US" dirty="0" err="1"/>
              <a:t>coursesAttend</a:t>
            </a:r>
            <a:r>
              <a:rPr lang="en-US" dirty="0"/>
              <a:t> live </a:t>
            </a:r>
            <a:r>
              <a:rPr lang="en-US" dirty="0" err="1"/>
              <a:t>classesAccess</a:t>
            </a:r>
            <a:r>
              <a:rPr lang="en-US" dirty="0"/>
              <a:t> uploaded </a:t>
            </a:r>
            <a:r>
              <a:rPr lang="en-US" dirty="0" err="1"/>
              <a:t>materialsPost</a:t>
            </a:r>
            <a:r>
              <a:rPr lang="en-US" dirty="0"/>
              <a:t> doubts for </a:t>
            </a:r>
            <a:r>
              <a:rPr lang="en-US" dirty="0" err="1"/>
              <a:t>clarificationReceive</a:t>
            </a:r>
            <a:r>
              <a:rPr lang="en-US" dirty="0"/>
              <a:t> professor’s responses</a:t>
            </a:r>
          </a:p>
          <a:p>
            <a:r>
              <a:rPr lang="en-US" dirty="0"/>
              <a:t>6. For </a:t>
            </a:r>
            <a:r>
              <a:rPr lang="en-US" dirty="0" err="1"/>
              <a:t>Professor:Conduct</a:t>
            </a:r>
            <a:r>
              <a:rPr lang="en-US" dirty="0"/>
              <a:t> live </a:t>
            </a:r>
            <a:r>
              <a:rPr lang="en-US" dirty="0" err="1"/>
              <a:t>classesUpload</a:t>
            </a:r>
            <a:r>
              <a:rPr lang="en-US" dirty="0"/>
              <a:t> course </a:t>
            </a:r>
            <a:r>
              <a:rPr lang="en-US" dirty="0" err="1"/>
              <a:t>materialsView</a:t>
            </a:r>
            <a:r>
              <a:rPr lang="en-US" dirty="0"/>
              <a:t> and answer student doubts</a:t>
            </a:r>
          </a:p>
          <a:p>
            <a:r>
              <a:rPr lang="en-US" dirty="0"/>
              <a:t>7. For </a:t>
            </a:r>
            <a:r>
              <a:rPr lang="en-US" dirty="0" err="1"/>
              <a:t>Admin:Manage</a:t>
            </a:r>
            <a:r>
              <a:rPr lang="en-US" dirty="0"/>
              <a:t> user roles and </a:t>
            </a:r>
            <a:r>
              <a:rPr lang="en-US" dirty="0" err="1"/>
              <a:t>permissionsMonitor</a:t>
            </a:r>
            <a:r>
              <a:rPr lang="en-US" dirty="0"/>
              <a:t> system activities</a:t>
            </a:r>
          </a:p>
          <a:p>
            <a:r>
              <a:rPr lang="en-US" dirty="0"/>
              <a:t>8. Logout after session completion</a:t>
            </a:r>
          </a:p>
          <a:p>
            <a:r>
              <a:rPr lang="en-US" dirty="0"/>
              <a:t>9. End</a:t>
            </a:r>
          </a:p>
        </p:txBody>
      </p:sp>
    </p:spTree>
    <p:extLst>
      <p:ext uri="{BB962C8B-B14F-4D97-AF65-F5344CB8AC3E}">
        <p14:creationId xmlns:p14="http://schemas.microsoft.com/office/powerpoint/2010/main" val="3639005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a:extLst>
              <a:ext uri="{FF2B5EF4-FFF2-40B4-BE49-F238E27FC236}">
                <a16:creationId xmlns:a16="http://schemas.microsoft.com/office/drawing/2014/main" id="{4F89E451-7CF0-C417-303D-AA617BCDF19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76401" y="76200"/>
            <a:ext cx="5105400" cy="3138460"/>
          </a:xfrm>
          <a:prstGeom prst="rect">
            <a:avLst/>
          </a:prstGeom>
        </p:spPr>
      </p:pic>
      <p:sp>
        <p:nvSpPr>
          <p:cNvPr id="5" name="Rectangle 1">
            <a:extLst>
              <a:ext uri="{FF2B5EF4-FFF2-40B4-BE49-F238E27FC236}">
                <a16:creationId xmlns:a16="http://schemas.microsoft.com/office/drawing/2014/main" id="{34D2B52A-9F03-511F-C28D-6AA9EE4D04CF}"/>
              </a:ext>
            </a:extLst>
          </p:cNvPr>
          <p:cNvSpPr>
            <a:spLocks noChangeArrowheads="1"/>
          </p:cNvSpPr>
          <p:nvPr/>
        </p:nvSpPr>
        <p:spPr bwMode="auto">
          <a:xfrm>
            <a:off x="457200" y="2887682"/>
            <a:ext cx="8534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Flowchart: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access</a:t>
            </a:r>
            <a:r>
              <a:rPr kumimoji="0" lang="en-US" altLang="en-US" sz="1800" b="0" i="0" u="none" strike="noStrike" cap="none" normalizeH="0" baseline="0" dirty="0">
                <a:ln>
                  <a:noFill/>
                </a:ln>
                <a:solidFill>
                  <a:schemeClr val="tx1"/>
                </a:solidFill>
                <a:effectLst/>
                <a:latin typeface="Arial" panose="020B0604020202020204" pitchFamily="34" charset="0"/>
              </a:rPr>
              <a:t> – Admin, Teacher, Student.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Modules: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Admin Module:</a:t>
            </a:r>
            <a:r>
              <a:rPr kumimoji="0" lang="en-US" altLang="en-US" sz="1800" b="0" i="0" u="none" strike="noStrike" cap="none" normalizeH="0" baseline="0" dirty="0">
                <a:ln>
                  <a:noFill/>
                </a:ln>
                <a:solidFill>
                  <a:schemeClr val="tx1"/>
                </a:solidFill>
                <a:effectLst/>
                <a:latin typeface="Arial" panose="020B0604020202020204" pitchFamily="34" charset="0"/>
              </a:rPr>
              <a:t> Manage users, view system activity.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Teacher Module:</a:t>
            </a:r>
            <a:r>
              <a:rPr kumimoji="0" lang="en-US" altLang="en-US" sz="1800" b="0" i="0" u="none" strike="noStrike" cap="none" normalizeH="0" baseline="0" dirty="0">
                <a:ln>
                  <a:noFill/>
                </a:ln>
                <a:solidFill>
                  <a:schemeClr val="tx1"/>
                </a:solidFill>
                <a:effectLst/>
                <a:latin typeface="Arial" panose="020B0604020202020204" pitchFamily="34" charset="0"/>
              </a:rPr>
              <a:t> Upload lessons (YouTube links), create quizzes, evaluate results.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Student Module:</a:t>
            </a:r>
            <a:r>
              <a:rPr kumimoji="0" lang="en-US" altLang="en-US" sz="1800" b="0" i="0" u="none" strike="noStrike" cap="none" normalizeH="0" baseline="0" dirty="0">
                <a:ln>
                  <a:noFill/>
                </a:ln>
                <a:solidFill>
                  <a:schemeClr val="tx1"/>
                </a:solidFill>
                <a:effectLst/>
                <a:latin typeface="Arial" panose="020B0604020202020204" pitchFamily="34" charset="0"/>
              </a:rPr>
              <a:t> View lessons, attempt quizzes with auto-grading, interact with chatbot.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Chatbot Module:</a:t>
            </a:r>
            <a:r>
              <a:rPr kumimoji="0" lang="en-US" altLang="en-US" sz="1800" b="0" i="0" u="none" strike="noStrike" cap="none" normalizeH="0" baseline="0" dirty="0">
                <a:ln>
                  <a:noFill/>
                </a:ln>
                <a:solidFill>
                  <a:schemeClr val="tx1"/>
                </a:solidFill>
                <a:effectLst/>
                <a:latin typeface="Arial" panose="020B0604020202020204" pitchFamily="34" charset="0"/>
              </a:rPr>
              <a:t> Provides real-time academic assistance using NLP.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Course Management:</a:t>
            </a:r>
            <a:r>
              <a:rPr kumimoji="0" lang="en-US" altLang="en-US" sz="1800" b="0" i="0" u="none" strike="noStrike" cap="none" normalizeH="0" baseline="0" dirty="0">
                <a:ln>
                  <a:noFill/>
                </a:ln>
                <a:solidFill>
                  <a:schemeClr val="tx1"/>
                </a:solidFill>
                <a:effectLst/>
                <a:latin typeface="Arial" panose="020B0604020202020204" pitchFamily="34" charset="0"/>
              </a:rPr>
              <a:t> Students can explore predefined courses.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Technology Stack: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Python (Flask REST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for UI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SQLite (lightweight, portable).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C04D2-F584-B476-A702-3D7E5DDA9889}"/>
              </a:ext>
            </a:extLst>
          </p:cNvPr>
          <p:cNvSpPr>
            <a:spLocks noGrp="1"/>
          </p:cNvSpPr>
          <p:nvPr>
            <p:ph idx="1"/>
          </p:nvPr>
        </p:nvSpPr>
        <p:spPr>
          <a:xfrm>
            <a:off x="381000" y="304800"/>
            <a:ext cx="8229600" cy="4525963"/>
          </a:xfrm>
        </p:spPr>
        <p:txBody>
          <a:bodyPr/>
          <a:lstStyle/>
          <a:p>
            <a:pPr marL="0" lvl="0" indent="0" eaLnBrk="0" fontAlgn="base" hangingPunct="0">
              <a:spcBef>
                <a:spcPct val="0"/>
              </a:spcBef>
              <a:spcAft>
                <a:spcPct val="0"/>
              </a:spcAft>
              <a:buFontTx/>
              <a:buChar char="•"/>
            </a:pPr>
            <a:r>
              <a:rPr lang="en-US" altLang="en-US" sz="1800" b="1" dirty="0">
                <a:latin typeface="Arial" panose="020B0604020202020204" pitchFamily="34" charset="0"/>
              </a:rPr>
              <a:t>APIs:</a:t>
            </a:r>
            <a:endParaRPr lang="en-US" altLang="en-US" sz="1800" dirty="0">
              <a:latin typeface="Arial" panose="020B0604020202020204" pitchFamily="34" charset="0"/>
            </a:endParaRPr>
          </a:p>
          <a:p>
            <a:pPr marL="457200" lvl="1" indent="0" eaLnBrk="0" fontAlgn="base" hangingPunct="0">
              <a:spcBef>
                <a:spcPct val="0"/>
              </a:spcBef>
              <a:spcAft>
                <a:spcPct val="0"/>
              </a:spcAft>
              <a:buFontTx/>
              <a:buChar char="•"/>
            </a:pPr>
            <a:r>
              <a:rPr lang="en-US" altLang="en-US" sz="1800" dirty="0">
                <a:latin typeface="Arial" panose="020B0604020202020204" pitchFamily="34" charset="0"/>
              </a:rPr>
              <a:t>Google Translate API (multilingual support).</a:t>
            </a:r>
          </a:p>
          <a:p>
            <a:pPr marL="457200" lvl="1" indent="0" eaLnBrk="0" fontAlgn="base" hangingPunct="0">
              <a:spcBef>
                <a:spcPct val="0"/>
              </a:spcBef>
              <a:spcAft>
                <a:spcPct val="0"/>
              </a:spcAft>
              <a:buFontTx/>
              <a:buChar char="•"/>
            </a:pPr>
            <a:r>
              <a:rPr lang="en-US" altLang="en-US" sz="1800" dirty="0">
                <a:latin typeface="Arial" panose="020B0604020202020204" pitchFamily="34" charset="0"/>
              </a:rPr>
              <a:t>OpenAI API (AI chatbot).</a:t>
            </a:r>
          </a:p>
          <a:p>
            <a:pPr marL="0" lvl="0" indent="0" eaLnBrk="0" fontAlgn="base" hangingPunct="0">
              <a:spcBef>
                <a:spcPct val="0"/>
              </a:spcBef>
              <a:spcAft>
                <a:spcPct val="0"/>
              </a:spcAft>
              <a:buFontTx/>
              <a:buChar char="•"/>
            </a:pPr>
            <a:r>
              <a:rPr lang="en-US" altLang="en-US" sz="1800" b="1" dirty="0">
                <a:latin typeface="Arial" panose="020B0604020202020204" pitchFamily="34" charset="0"/>
              </a:rPr>
              <a:t>Data Flow:</a:t>
            </a:r>
            <a:endParaRPr lang="en-US" altLang="en-US" sz="1800" dirty="0">
              <a:latin typeface="Arial" panose="020B0604020202020204" pitchFamily="34" charset="0"/>
            </a:endParaRPr>
          </a:p>
          <a:p>
            <a:pPr marL="0" lvl="0" indent="0" eaLnBrk="0" fontAlgn="base" hangingPunct="0">
              <a:spcBef>
                <a:spcPct val="0"/>
              </a:spcBef>
              <a:spcAft>
                <a:spcPct val="0"/>
              </a:spcAft>
              <a:buFontTx/>
              <a:buAutoNum type="arabicPeriod"/>
            </a:pPr>
            <a:r>
              <a:rPr lang="en-US" altLang="en-US" sz="1800" dirty="0">
                <a:latin typeface="Arial" panose="020B0604020202020204" pitchFamily="34" charset="0"/>
              </a:rPr>
              <a:t>User logs in (validated via SQLite).</a:t>
            </a:r>
          </a:p>
          <a:p>
            <a:pPr marL="0" lvl="0" indent="0" eaLnBrk="0" fontAlgn="base" hangingPunct="0">
              <a:spcBef>
                <a:spcPct val="0"/>
              </a:spcBef>
              <a:spcAft>
                <a:spcPct val="0"/>
              </a:spcAft>
              <a:buFontTx/>
              <a:buAutoNum type="arabicPeriod" startAt="2"/>
            </a:pPr>
            <a:r>
              <a:rPr lang="en-US" altLang="en-US" sz="1800" dirty="0">
                <a:latin typeface="Arial" panose="020B0604020202020204" pitchFamily="34" charset="0"/>
              </a:rPr>
              <a:t>Teacher uploads lesson/quiz → stored in DB/in-memory list.</a:t>
            </a:r>
          </a:p>
          <a:p>
            <a:pPr marL="0" lvl="0" indent="0" eaLnBrk="0" fontAlgn="base" hangingPunct="0">
              <a:spcBef>
                <a:spcPct val="0"/>
              </a:spcBef>
              <a:spcAft>
                <a:spcPct val="0"/>
              </a:spcAft>
              <a:buFontTx/>
              <a:buAutoNum type="arabicPeriod" startAt="3"/>
            </a:pPr>
            <a:r>
              <a:rPr lang="en-US" altLang="en-US" sz="1800" dirty="0">
                <a:latin typeface="Arial" panose="020B0604020202020204" pitchFamily="34" charset="0"/>
              </a:rPr>
              <a:t>Student accesses lessons, quizzes, chatbot.</a:t>
            </a:r>
          </a:p>
          <a:p>
            <a:pPr marL="0" lvl="0" indent="0" eaLnBrk="0" fontAlgn="base" hangingPunct="0">
              <a:spcBef>
                <a:spcPct val="0"/>
              </a:spcBef>
              <a:spcAft>
                <a:spcPct val="0"/>
              </a:spcAft>
              <a:buFontTx/>
              <a:buAutoNum type="arabicPeriod" startAt="4"/>
            </a:pPr>
            <a:r>
              <a:rPr lang="en-US" altLang="en-US" sz="1800" dirty="0">
                <a:latin typeface="Arial" panose="020B0604020202020204" pitchFamily="34" charset="0"/>
              </a:rPr>
              <a:t>Chatbot queries OpenAI API for answers.</a:t>
            </a:r>
          </a:p>
          <a:p>
            <a:pPr marL="0" lvl="0" indent="0" eaLnBrk="0" fontAlgn="base" hangingPunct="0">
              <a:spcBef>
                <a:spcPct val="0"/>
              </a:spcBef>
              <a:spcAft>
                <a:spcPct val="0"/>
              </a:spcAft>
              <a:buFontTx/>
              <a:buAutoNum type="arabicPeriod" startAt="5"/>
            </a:pPr>
            <a:r>
              <a:rPr lang="en-US" altLang="en-US" sz="1800" dirty="0">
                <a:latin typeface="Arial" panose="020B0604020202020204" pitchFamily="34" charset="0"/>
              </a:rPr>
              <a:t>Responses displayed dynamically on </a:t>
            </a:r>
            <a:r>
              <a:rPr lang="en-US" altLang="en-US" sz="1800" dirty="0" err="1">
                <a:latin typeface="Arial" panose="020B0604020202020204" pitchFamily="34" charset="0"/>
              </a:rPr>
              <a:t>Streamlit</a:t>
            </a:r>
            <a:r>
              <a:rPr lang="en-US" altLang="en-US" sz="1800" dirty="0">
                <a:latin typeface="Arial" panose="020B0604020202020204" pitchFamily="34" charset="0"/>
              </a:rPr>
              <a:t> frontend.</a:t>
            </a:r>
          </a:p>
        </p:txBody>
      </p:sp>
    </p:spTree>
    <p:extLst>
      <p:ext uri="{BB962C8B-B14F-4D97-AF65-F5344CB8AC3E}">
        <p14:creationId xmlns:p14="http://schemas.microsoft.com/office/powerpoint/2010/main" val="3288515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implementation</a:t>
            </a:r>
          </a:p>
        </p:txBody>
      </p:sp>
      <p:sp>
        <p:nvSpPr>
          <p:cNvPr id="4" name="Rectangle 1">
            <a:extLst>
              <a:ext uri="{FF2B5EF4-FFF2-40B4-BE49-F238E27FC236}">
                <a16:creationId xmlns:a16="http://schemas.microsoft.com/office/drawing/2014/main" id="{A0963F29-15A8-CE47-4166-1984B6CA0582}"/>
              </a:ext>
            </a:extLst>
          </p:cNvPr>
          <p:cNvSpPr>
            <a:spLocks noGrp="1" noChangeArrowheads="1"/>
          </p:cNvSpPr>
          <p:nvPr>
            <p:ph idx="1"/>
          </p:nvPr>
        </p:nvSpPr>
        <p:spPr bwMode="auto">
          <a:xfrm>
            <a:off x="457200" y="1739527"/>
            <a:ext cx="940847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Flask REST APIs for login, lessons, quizzes, chatbot.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SQLite for lightweight storage of users, lessons, and quizzes.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interface for simplicity (Dashboards, quizzes, chatbot).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Features:</a:t>
            </a:r>
            <a:r>
              <a:rPr kumimoji="0" lang="en-US" altLang="en-US" sz="1800" b="0" i="0" u="none" strike="noStrike" cap="none" normalizeH="0" baseline="0" dirty="0">
                <a:ln>
                  <a:noFill/>
                </a:ln>
                <a:solidFill>
                  <a:schemeClr val="tx1"/>
                </a:solidFill>
                <a:effectLst/>
                <a:latin typeface="Arial" panose="020B0604020202020204" pitchFamily="34" charset="0"/>
              </a:rPr>
              <a:t> NLP chatbot (OpenAI API) for Q&amp;A and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Multilingual:</a:t>
            </a:r>
            <a:r>
              <a:rPr kumimoji="0" lang="en-US" altLang="en-US" sz="1800" b="0" i="0" u="none" strike="noStrike" cap="none" normalizeH="0" baseline="0" dirty="0">
                <a:ln>
                  <a:noFill/>
                </a:ln>
                <a:solidFill>
                  <a:schemeClr val="tx1"/>
                </a:solidFill>
                <a:effectLst/>
                <a:latin typeface="Arial" panose="020B0604020202020204" pitchFamily="34" charset="0"/>
              </a:rPr>
              <a:t> Integrated Google Translate API for real-time translation of live text/lessons.</a:t>
            </a:r>
          </a:p>
        </p:txBody>
      </p:sp>
      <p:pic>
        <p:nvPicPr>
          <p:cNvPr id="5" name="Picture 4">
            <a:extLst>
              <a:ext uri="{FF2B5EF4-FFF2-40B4-BE49-F238E27FC236}">
                <a16:creationId xmlns:a16="http://schemas.microsoft.com/office/drawing/2014/main" id="{5FCDDCDB-48A6-2A55-16C2-75B199A4F6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8700" y="1395867"/>
            <a:ext cx="7086600" cy="27298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Results</a:t>
            </a:r>
          </a:p>
        </p:txBody>
      </p:sp>
      <p:pic>
        <p:nvPicPr>
          <p:cNvPr id="4" name="Content Placeholder 3">
            <a:extLst>
              <a:ext uri="{FF2B5EF4-FFF2-40B4-BE49-F238E27FC236}">
                <a16:creationId xmlns:a16="http://schemas.microsoft.com/office/drawing/2014/main" id="{A37E3256-E86C-DDF6-F462-3D26272FBE5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066800"/>
            <a:ext cx="3747770" cy="5197611"/>
          </a:xfrm>
          <a:prstGeom prst="rect">
            <a:avLst/>
          </a:prstGeom>
          <a:noFill/>
          <a:ln>
            <a:noFill/>
          </a:ln>
        </p:spPr>
      </p:pic>
      <p:sp>
        <p:nvSpPr>
          <p:cNvPr id="8" name="TextBox 7">
            <a:extLst>
              <a:ext uri="{FF2B5EF4-FFF2-40B4-BE49-F238E27FC236}">
                <a16:creationId xmlns:a16="http://schemas.microsoft.com/office/drawing/2014/main" id="{2FAA31A1-0F3C-BD0E-FB9A-CCB71763B8C1}"/>
              </a:ext>
            </a:extLst>
          </p:cNvPr>
          <p:cNvSpPr txBox="1"/>
          <p:nvPr/>
        </p:nvSpPr>
        <p:spPr>
          <a:xfrm>
            <a:off x="685800" y="5511363"/>
            <a:ext cx="1963549"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Teacher Login</a:t>
            </a:r>
            <a:endParaRPr lang="en-IN" dirty="0"/>
          </a:p>
        </p:txBody>
      </p:sp>
      <p:pic>
        <p:nvPicPr>
          <p:cNvPr id="9" name="Picture 8">
            <a:extLst>
              <a:ext uri="{FF2B5EF4-FFF2-40B4-BE49-F238E27FC236}">
                <a16:creationId xmlns:a16="http://schemas.microsoft.com/office/drawing/2014/main" id="{52DB37F4-FA60-E9AD-D9A1-FEF7BA75FA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2487" y="1427043"/>
            <a:ext cx="5083810" cy="403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1320033-1C5E-1DD6-5DA7-29BDFE7BD70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838200"/>
            <a:ext cx="4800600" cy="3581400"/>
          </a:xfrm>
          <a:prstGeom prst="rect">
            <a:avLst/>
          </a:prstGeom>
          <a:noFill/>
          <a:ln>
            <a:noFill/>
          </a:ln>
        </p:spPr>
      </p:pic>
      <p:sp>
        <p:nvSpPr>
          <p:cNvPr id="6" name="TextBox 5">
            <a:extLst>
              <a:ext uri="{FF2B5EF4-FFF2-40B4-BE49-F238E27FC236}">
                <a16:creationId xmlns:a16="http://schemas.microsoft.com/office/drawing/2014/main" id="{AF7AD619-9DE0-D0F7-CEB9-006AE562BFB8}"/>
              </a:ext>
            </a:extLst>
          </p:cNvPr>
          <p:cNvSpPr txBox="1"/>
          <p:nvPr/>
        </p:nvSpPr>
        <p:spPr>
          <a:xfrm>
            <a:off x="914400" y="3074214"/>
            <a:ext cx="4572000" cy="374077"/>
          </a:xfrm>
          <a:prstGeom prst="rect">
            <a:avLst/>
          </a:prstGeom>
          <a:noFill/>
        </p:spPr>
        <p:txBody>
          <a:bodyPr wrap="square">
            <a:spAutoFit/>
          </a:bodyPr>
          <a:lstStyle/>
          <a:p>
            <a:pPr algn="just">
              <a:lnSpc>
                <a:spcPct val="107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Student Dashboard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2D9C575C-3F92-90E6-F8F6-1032EA7685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6200" y="814086"/>
            <a:ext cx="4572000" cy="3300714"/>
          </a:xfrm>
          <a:prstGeom prst="rect">
            <a:avLst/>
          </a:prstGeom>
        </p:spPr>
      </p:pic>
      <p:pic>
        <p:nvPicPr>
          <p:cNvPr id="10" name="Picture 9">
            <a:extLst>
              <a:ext uri="{FF2B5EF4-FFF2-40B4-BE49-F238E27FC236}">
                <a16:creationId xmlns:a16="http://schemas.microsoft.com/office/drawing/2014/main" id="{DF53C587-548E-3079-9925-3094F9FEE8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329" y="3896129"/>
            <a:ext cx="4648200" cy="2500984"/>
          </a:xfrm>
          <a:prstGeom prst="rect">
            <a:avLst/>
          </a:prstGeom>
        </p:spPr>
      </p:pic>
    </p:spTree>
    <p:extLst>
      <p:ext uri="{BB962C8B-B14F-4D97-AF65-F5344CB8AC3E}">
        <p14:creationId xmlns:p14="http://schemas.microsoft.com/office/powerpoint/2010/main" val="722285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fontScale="85000" lnSpcReduction="10000"/>
          </a:bodyPr>
          <a:lstStyle/>
          <a:p>
            <a:pPr marL="0" indent="0">
              <a:buNone/>
            </a:pPr>
            <a:r>
              <a:rPr lang="en-GB" dirty="0" err="1"/>
              <a:t>EduMate</a:t>
            </a:r>
            <a:r>
              <a:rPr lang="en-GB" dirty="0"/>
              <a:t> successfully demonstrates a </a:t>
            </a:r>
            <a:r>
              <a:rPr lang="en-GB" b="1" dirty="0"/>
              <a:t>role-based virtual teaching platform</a:t>
            </a:r>
            <a:r>
              <a:rPr lang="en-GB" dirty="0"/>
              <a:t> that enhances inclusivity, collaboration, and personalized learning.</a:t>
            </a:r>
            <a:br>
              <a:rPr lang="en-GB" dirty="0"/>
            </a:br>
            <a:r>
              <a:rPr lang="en-GB" dirty="0"/>
              <a:t>The implementation allows:</a:t>
            </a:r>
          </a:p>
          <a:p>
            <a:r>
              <a:rPr lang="en-GB" b="1" dirty="0"/>
              <a:t>Secure multi-role login</a:t>
            </a:r>
            <a:r>
              <a:rPr lang="en-GB" dirty="0"/>
              <a:t> for Admin, Teacher, and Student.</a:t>
            </a:r>
          </a:p>
          <a:p>
            <a:r>
              <a:rPr lang="en-GB" b="1" dirty="0"/>
              <a:t>Lesson uploads</a:t>
            </a:r>
            <a:r>
              <a:rPr lang="en-GB" dirty="0"/>
              <a:t> with YouTube integration for teachers.</a:t>
            </a:r>
          </a:p>
          <a:p>
            <a:r>
              <a:rPr lang="en-GB" b="1" dirty="0"/>
              <a:t>Quiz creation and auto-grading</a:t>
            </a:r>
            <a:r>
              <a:rPr lang="en-GB" dirty="0"/>
              <a:t>, improving student engagement.</a:t>
            </a:r>
          </a:p>
          <a:p>
            <a:r>
              <a:rPr lang="en-GB" b="1" dirty="0"/>
              <a:t>Basic course management</a:t>
            </a:r>
            <a:r>
              <a:rPr lang="en-GB" dirty="0"/>
              <a:t> and lesson access for students.</a:t>
            </a:r>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E577D-A580-3C11-E123-E1C9D7E79FB8}"/>
              </a:ext>
            </a:extLst>
          </p:cNvPr>
          <p:cNvSpPr>
            <a:spLocks noGrp="1"/>
          </p:cNvSpPr>
          <p:nvPr>
            <p:ph type="title"/>
          </p:nvPr>
        </p:nvSpPr>
        <p:spPr/>
        <p:txBody>
          <a:bodyPr/>
          <a:lstStyle/>
          <a:p>
            <a:r>
              <a:rPr lang="en-US" dirty="0"/>
              <a:t>Social Benefits</a:t>
            </a:r>
          </a:p>
        </p:txBody>
      </p:sp>
      <p:sp>
        <p:nvSpPr>
          <p:cNvPr id="3" name="Content Placeholder 2">
            <a:extLst>
              <a:ext uri="{FF2B5EF4-FFF2-40B4-BE49-F238E27FC236}">
                <a16:creationId xmlns:a16="http://schemas.microsoft.com/office/drawing/2014/main" id="{B26778A7-E748-95CF-4EFC-58AD46A94D82}"/>
              </a:ext>
            </a:extLst>
          </p:cNvPr>
          <p:cNvSpPr>
            <a:spLocks noGrp="1"/>
          </p:cNvSpPr>
          <p:nvPr>
            <p:ph idx="1"/>
          </p:nvPr>
        </p:nvSpPr>
        <p:spPr/>
        <p:txBody>
          <a:bodyPr/>
          <a:lstStyle/>
          <a:p>
            <a:r>
              <a:rPr lang="en-US" dirty="0"/>
              <a:t>Provides equal access to education for all.</a:t>
            </a:r>
          </a:p>
          <a:p>
            <a:r>
              <a:rPr lang="en-US" dirty="0"/>
              <a:t>Connects students and teachers effectively.</a:t>
            </a:r>
          </a:p>
          <a:p>
            <a:r>
              <a:rPr lang="en-US" dirty="0"/>
              <a:t>Promotes continuous and flexible learning.</a:t>
            </a:r>
          </a:p>
          <a:p>
            <a:r>
              <a:rPr lang="en-US" dirty="0"/>
              <a:t>Saves time and reduces travel </a:t>
            </a:r>
            <a:r>
              <a:rPr lang="en-US" dirty="0" err="1"/>
              <a:t>costs.Supports</a:t>
            </a:r>
            <a:r>
              <a:rPr lang="en-US" dirty="0"/>
              <a:t> remote and inclusive education.</a:t>
            </a:r>
          </a:p>
          <a:p>
            <a:r>
              <a:rPr lang="en-US" dirty="0"/>
              <a:t>Encourages collaboration and sharing of knowledge.</a:t>
            </a:r>
          </a:p>
          <a:p>
            <a:r>
              <a:rPr lang="en-US" dirty="0"/>
              <a:t>Empowers teachers to reach more learners.</a:t>
            </a:r>
          </a:p>
        </p:txBody>
      </p:sp>
    </p:spTree>
    <p:extLst>
      <p:ext uri="{BB962C8B-B14F-4D97-AF65-F5344CB8AC3E}">
        <p14:creationId xmlns:p14="http://schemas.microsoft.com/office/powerpoint/2010/main" val="4125216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7EF1-C3AA-B506-B1B5-7CE19668FFA7}"/>
              </a:ext>
            </a:extLst>
          </p:cNvPr>
          <p:cNvSpPr>
            <a:spLocks noGrp="1"/>
          </p:cNvSpPr>
          <p:nvPr>
            <p:ph type="title"/>
          </p:nvPr>
        </p:nvSpPr>
        <p:spPr>
          <a:xfrm>
            <a:off x="1905000" y="274638"/>
            <a:ext cx="4648200" cy="868362"/>
          </a:xfrm>
        </p:spPr>
        <p:txBody>
          <a:bodyPr>
            <a:normAutofit fontScale="90000"/>
          </a:bodyPr>
          <a:lstStyle/>
          <a:p>
            <a:br>
              <a:rPr lang="en-US" altLang="en-US" b="1" dirty="0">
                <a:latin typeface="Arial" panose="020B0604020202020204" pitchFamily="34" charset="0"/>
              </a:rPr>
            </a:br>
            <a:r>
              <a:rPr lang="en-US" altLang="en-US" dirty="0"/>
              <a:t>Future Work</a:t>
            </a:r>
            <a:br>
              <a:rPr lang="en-US" altLang="en-US" b="1" dirty="0">
                <a:latin typeface="Arial" panose="020B0604020202020204" pitchFamily="34" charset="0"/>
              </a:rPr>
            </a:br>
            <a:endParaRPr lang="en-IN" dirty="0"/>
          </a:p>
        </p:txBody>
      </p:sp>
      <p:sp>
        <p:nvSpPr>
          <p:cNvPr id="4" name="Rectangle 1">
            <a:extLst>
              <a:ext uri="{FF2B5EF4-FFF2-40B4-BE49-F238E27FC236}">
                <a16:creationId xmlns:a16="http://schemas.microsoft.com/office/drawing/2014/main" id="{EDA13A4F-CE79-2A05-0687-7B29BCE71514}"/>
              </a:ext>
            </a:extLst>
          </p:cNvPr>
          <p:cNvSpPr>
            <a:spLocks noGrp="1" noChangeArrowheads="1"/>
          </p:cNvSpPr>
          <p:nvPr>
            <p:ph idx="1"/>
          </p:nvPr>
        </p:nvSpPr>
        <p:spPr bwMode="auto">
          <a:xfrm>
            <a:off x="457201" y="1985744"/>
            <a:ext cx="792480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None/>
            </a:pPr>
            <a:r>
              <a:rPr kumimoji="0" lang="en-US" altLang="en-US" sz="2000" b="1" i="0" u="none" strike="noStrike" cap="none" normalizeH="0" baseline="0" dirty="0">
                <a:ln>
                  <a:noFill/>
                </a:ln>
                <a:solidFill>
                  <a:schemeClr val="tx1"/>
                </a:solidFill>
                <a:effectLst/>
                <a:latin typeface="Arial" panose="020B0604020202020204" pitchFamily="34" charset="0"/>
              </a:rPr>
              <a:t>AI Enhancements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Smarter chatbot with domain-specific knowledge.</a:t>
            </a: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Adaptive dashboards that recommend study plans based on quiz performance.</a:t>
            </a:r>
          </a:p>
          <a:p>
            <a:pPr marL="0" indent="0" eaLnBrk="0" fontAlgn="base" hangingPunct="0">
              <a:spcBef>
                <a:spcPct val="0"/>
              </a:spcBef>
              <a:spcAft>
                <a:spcPct val="0"/>
              </a:spcAft>
              <a:buNone/>
            </a:pPr>
            <a:r>
              <a:rPr kumimoji="0" lang="en-US" altLang="en-US" sz="2000" b="1" i="0" u="none" strike="noStrike" cap="none" normalizeH="0" baseline="0" dirty="0">
                <a:ln>
                  <a:noFill/>
                </a:ln>
                <a:solidFill>
                  <a:schemeClr val="tx1"/>
                </a:solidFill>
                <a:effectLst/>
                <a:latin typeface="Arial" panose="020B0604020202020204" pitchFamily="34" charset="0"/>
              </a:rPr>
              <a:t>Expanded Learning Tools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Live class integration (Zoom/Meet APIs).</a:t>
            </a: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Collaborative whiteboards and document sharing.</a:t>
            </a:r>
          </a:p>
          <a:p>
            <a:pPr marL="0" indent="0" eaLnBrk="0" fontAlgn="base" hangingPunct="0">
              <a:spcBef>
                <a:spcPct val="0"/>
              </a:spcBef>
              <a:spcAft>
                <a:spcPct val="0"/>
              </a:spcAft>
              <a:buNone/>
            </a:pPr>
            <a:r>
              <a:rPr kumimoji="0" lang="en-US" altLang="en-US" sz="2000" b="1" i="0" u="none" strike="noStrike" cap="none" normalizeH="0" baseline="0" dirty="0">
                <a:ln>
                  <a:noFill/>
                </a:ln>
                <a:solidFill>
                  <a:schemeClr val="tx1"/>
                </a:solidFill>
                <a:effectLst/>
                <a:latin typeface="Arial" panose="020B0604020202020204" pitchFamily="34" charset="0"/>
              </a:rPr>
              <a:t>Multilingual &amp; Accessibility Upgrades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Real-time subtitle translation in live video sessions.</a:t>
            </a:r>
          </a:p>
          <a:p>
            <a:pPr marL="400050" lvl="1" indent="0" eaLnBrk="0" fontAlgn="base" hangingPunct="0">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Accessibility features for differently-abled students (speech-to-text, screen reader compatibility).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4280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Paper Indexing/Acceptance status</a:t>
            </a:r>
          </a:p>
        </p:txBody>
      </p:sp>
      <p:sp>
        <p:nvSpPr>
          <p:cNvPr id="3" name="Content Placeholder 2"/>
          <p:cNvSpPr>
            <a:spLocks noGrp="1"/>
          </p:cNvSpPr>
          <p:nvPr>
            <p:ph idx="1"/>
          </p:nvPr>
        </p:nvSpPr>
        <p:spPr/>
        <p:txBody>
          <a:bodyPr/>
          <a:lstStyle/>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fontScale="25000" lnSpcReduction="20000"/>
          </a:bodyPr>
          <a:lstStyle/>
          <a:p>
            <a:pPr marL="0" indent="0">
              <a:buNone/>
            </a:pPr>
            <a:r>
              <a:rPr lang="en-IN" sz="7200" dirty="0"/>
              <a:t>[1] S. Naylor and A. </a:t>
            </a:r>
            <a:r>
              <a:rPr lang="en-IN" sz="7200" dirty="0" err="1"/>
              <a:t>Adjorlu</a:t>
            </a:r>
            <a:r>
              <a:rPr lang="en-IN" sz="7200" dirty="0"/>
              <a:t>, "ABA-VR: Training Applied Behaviour Analysis Practitioners in Virtual Reality to Support Autistic Children," 2025 IEEE Conference on Virtual Reality and 3D User Interfaces Abstracts and Workshops (VRW), Saint Malo, France, 2025, pp. 556-560, </a:t>
            </a:r>
            <a:r>
              <a:rPr lang="en-IN" sz="7200" dirty="0" err="1"/>
              <a:t>doi</a:t>
            </a:r>
            <a:r>
              <a:rPr lang="en-IN" sz="7200" dirty="0"/>
              <a:t>: 10.1109/VRW66409.2025.00119.</a:t>
            </a:r>
          </a:p>
          <a:p>
            <a:pPr marL="0" indent="0">
              <a:buNone/>
            </a:pPr>
            <a:r>
              <a:rPr lang="en-IN" sz="7200" dirty="0"/>
              <a:t> </a:t>
            </a:r>
          </a:p>
          <a:p>
            <a:pPr marL="0" indent="0">
              <a:buNone/>
            </a:pPr>
            <a:r>
              <a:rPr lang="en-IN" sz="7200" dirty="0"/>
              <a:t>[2] M. M. Cárdenas, I. M. Álvarez, A. Romero and B. Manero, "A Teacher Training Proposal for Classroom Conflict Management through Virtual Reality," 2021 International Conference on Advanced Learning Technologies (ICALT), Tartu, Estonia, 2021, pp. 373-375, </a:t>
            </a:r>
            <a:r>
              <a:rPr lang="en-IN" sz="7200" dirty="0" err="1"/>
              <a:t>doi</a:t>
            </a:r>
            <a:r>
              <a:rPr lang="en-IN" sz="7200" dirty="0"/>
              <a:t>: 10.1109/ICALT52272.2021.00120.</a:t>
            </a:r>
          </a:p>
          <a:p>
            <a:pPr marL="0" indent="0">
              <a:buNone/>
            </a:pPr>
            <a:r>
              <a:rPr lang="en-IN" sz="7200" dirty="0"/>
              <a:t> </a:t>
            </a:r>
          </a:p>
          <a:p>
            <a:pPr marL="0" indent="0">
              <a:buNone/>
            </a:pPr>
            <a:r>
              <a:rPr lang="en-GB" sz="7200" dirty="0"/>
              <a:t>[3] E. P. </a:t>
            </a:r>
            <a:r>
              <a:rPr lang="en-GB" sz="7200" dirty="0" err="1"/>
              <a:t>Purwandari</a:t>
            </a:r>
            <a:r>
              <a:rPr lang="en-GB" sz="7200" dirty="0"/>
              <a:t> and E. W. </a:t>
            </a:r>
            <a:r>
              <a:rPr lang="en-GB" sz="7200" dirty="0" err="1"/>
              <a:t>Winarni</a:t>
            </a:r>
            <a:r>
              <a:rPr lang="en-GB" sz="7200" dirty="0"/>
              <a:t>, "Knowledge Management of Smart Learning System with Cognitive Level for Higher Education," 2024 Ninth International Conference on Informatics and Computing (ICIC), Medan, Indonesia, 2024, pp. 1-6, </a:t>
            </a:r>
            <a:r>
              <a:rPr lang="en-GB" sz="7200" dirty="0" err="1"/>
              <a:t>doi</a:t>
            </a:r>
            <a:r>
              <a:rPr lang="en-GB" sz="7200" dirty="0"/>
              <a:t>: 10.1109/ICIC64337.2024.10957621.</a:t>
            </a:r>
            <a:endParaRPr lang="en-IN" sz="7200" dirty="0"/>
          </a:p>
          <a:p>
            <a:pPr marL="0" indent="0">
              <a:buNone/>
            </a:pPr>
            <a:r>
              <a:rPr lang="en-GB" sz="7200" dirty="0"/>
              <a:t> </a:t>
            </a:r>
            <a:endParaRPr lang="en-IN" sz="7200" dirty="0"/>
          </a:p>
          <a:p>
            <a:pPr marL="0" indent="0">
              <a:buNone/>
            </a:pPr>
            <a:r>
              <a:rPr lang="en-GB" sz="7200" dirty="0"/>
              <a:t>[4] M. Liu, P. Liu, R. Lu and X. Jiang, "Intelligent and Personalized Vocational Education: Applications and Strategies," 2024 14th International Conference on Information Technology in Medicine and Education (ITME), Guiyang, China, 2024, pp. 503-507, </a:t>
            </a:r>
            <a:r>
              <a:rPr lang="en-GB" sz="7200" dirty="0" err="1"/>
              <a:t>doi</a:t>
            </a:r>
            <a:r>
              <a:rPr lang="en-GB" sz="7200" dirty="0"/>
              <a:t>: 10.1109/ITME63426.2024.00106.</a:t>
            </a:r>
            <a:endParaRPr lang="en-IN" sz="7200" dirty="0"/>
          </a:p>
          <a:p>
            <a:pPr marL="0" indent="0">
              <a:buNone/>
            </a:pPr>
            <a:r>
              <a:rPr lang="en-IN" sz="7200" dirty="0"/>
              <a:t> </a:t>
            </a:r>
          </a:p>
          <a:p>
            <a:pPr marL="0" indent="0">
              <a:buNone/>
            </a:pP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F63C36-DC3F-33A3-34CC-F79EFC6640C7}"/>
              </a:ext>
            </a:extLst>
          </p:cNvPr>
          <p:cNvSpPr txBox="1"/>
          <p:nvPr/>
        </p:nvSpPr>
        <p:spPr>
          <a:xfrm>
            <a:off x="342900" y="335845"/>
            <a:ext cx="8458200" cy="6186309"/>
          </a:xfrm>
          <a:prstGeom prst="rect">
            <a:avLst/>
          </a:prstGeom>
          <a:noFill/>
        </p:spPr>
        <p:txBody>
          <a:bodyPr wrap="square">
            <a:spAutoFit/>
          </a:bodyPr>
          <a:lstStyle/>
          <a:p>
            <a:pPr marL="0" indent="0">
              <a:buNone/>
            </a:pPr>
            <a:r>
              <a:rPr lang="en-IN" sz="1800" dirty="0"/>
              <a:t>[5] </a:t>
            </a:r>
            <a:r>
              <a:rPr lang="en-IN" sz="1800" dirty="0" err="1"/>
              <a:t>Porubay</a:t>
            </a:r>
            <a:r>
              <a:rPr lang="en-IN" sz="1800" dirty="0"/>
              <a:t>, G. </a:t>
            </a:r>
            <a:r>
              <a:rPr lang="en-IN" sz="1800" dirty="0" err="1"/>
              <a:t>Tashmatova</a:t>
            </a:r>
            <a:r>
              <a:rPr lang="en-IN" sz="1800" dirty="0"/>
              <a:t>, S. </a:t>
            </a:r>
            <a:r>
              <a:rPr lang="en-IN" sz="1800" dirty="0" err="1"/>
              <a:t>Akhmadjonova</a:t>
            </a:r>
            <a:r>
              <a:rPr lang="en-IN" sz="1800" dirty="0"/>
              <a:t>, M. </a:t>
            </a:r>
            <a:r>
              <a:rPr lang="en-IN" sz="1800" dirty="0" err="1"/>
              <a:t>Uktamova</a:t>
            </a:r>
            <a:r>
              <a:rPr lang="en-IN" sz="1800" dirty="0"/>
              <a:t>, S. </a:t>
            </a:r>
            <a:r>
              <a:rPr lang="en-IN" sz="1800" dirty="0" err="1"/>
              <a:t>Kuziev</a:t>
            </a:r>
            <a:r>
              <a:rPr lang="en-IN" sz="1800" dirty="0"/>
              <a:t> and M. </a:t>
            </a:r>
            <a:r>
              <a:rPr lang="en-IN" sz="1800" dirty="0" err="1"/>
              <a:t>Mirzaakhmedov</a:t>
            </a:r>
            <a:r>
              <a:rPr lang="en-IN" sz="1800" dirty="0"/>
              <a:t>, "Artificial Intelligence in Language Classrooms: Improving Engagement and Outcomes," 2024 International Conference on IoT, Communication and Automation Technology (ICICAT), Gorakhpur, India, 2024, pp. 335-340, </a:t>
            </a:r>
            <a:r>
              <a:rPr lang="en-IN" sz="1800" dirty="0" err="1"/>
              <a:t>doi</a:t>
            </a:r>
            <a:r>
              <a:rPr lang="en-IN" sz="1800" dirty="0"/>
              <a:t>: 10.1109/ICICAT62666.2024.10923388.</a:t>
            </a:r>
          </a:p>
          <a:p>
            <a:pPr marL="0" indent="0">
              <a:buNone/>
            </a:pPr>
            <a:r>
              <a:rPr lang="en-IN" sz="1800" dirty="0"/>
              <a:t> </a:t>
            </a:r>
          </a:p>
          <a:p>
            <a:pPr marL="0" indent="0">
              <a:buNone/>
            </a:pPr>
            <a:r>
              <a:rPr lang="en-IN" sz="1800" dirty="0"/>
              <a:t>[6] S. </a:t>
            </a:r>
            <a:r>
              <a:rPr lang="en-IN" sz="1800" dirty="0" err="1"/>
              <a:t>Umirova</a:t>
            </a:r>
            <a:r>
              <a:rPr lang="en-IN" sz="1800" dirty="0"/>
              <a:t>, S. </a:t>
            </a:r>
            <a:r>
              <a:rPr lang="en-IN" sz="1800" dirty="0" err="1"/>
              <a:t>Mahmadiev</a:t>
            </a:r>
            <a:r>
              <a:rPr lang="en-IN" sz="1800" dirty="0"/>
              <a:t>, T. </a:t>
            </a:r>
            <a:r>
              <a:rPr lang="en-IN" sz="1800" dirty="0" err="1"/>
              <a:t>Zuparov</a:t>
            </a:r>
            <a:r>
              <a:rPr lang="en-IN" sz="1800" dirty="0"/>
              <a:t>, A. Yuldashev, A. Abdullayev and N. </a:t>
            </a:r>
            <a:r>
              <a:rPr lang="en-IN" sz="1800" dirty="0" err="1"/>
              <a:t>Sobirova</a:t>
            </a:r>
            <a:r>
              <a:rPr lang="en-IN" sz="1800" dirty="0"/>
              <a:t>, "AI-Assisted Tutoring Systems: Improving Engagement and Learning Outcomes in Elementary Education," 2024 International Conference on IoT, Communication and Automation Technology (ICICAT), Gorakhpur, India, 2024, pp. 779-784, </a:t>
            </a:r>
            <a:r>
              <a:rPr lang="en-IN" sz="1800" dirty="0" err="1"/>
              <a:t>doi</a:t>
            </a:r>
            <a:r>
              <a:rPr lang="en-IN" sz="1800" dirty="0"/>
              <a:t>: 10.1109/ICICAT62666.2024.10923307.</a:t>
            </a:r>
          </a:p>
          <a:p>
            <a:pPr marL="0" indent="0">
              <a:buNone/>
            </a:pPr>
            <a:r>
              <a:rPr lang="en-IN" sz="1800" dirty="0"/>
              <a:t> </a:t>
            </a:r>
          </a:p>
          <a:p>
            <a:pPr marL="0" indent="0">
              <a:buNone/>
            </a:pPr>
            <a:r>
              <a:rPr lang="en-IN" sz="1800" dirty="0"/>
              <a:t>[7] C. L. Kok, C. K. Ho, C. Lee, J. B. Wen Heng and T. H. Teo, "Addressing Sustainability Challenges in AI Integration: Data Privacy, Accessibility, and Ethical Considerations," TENCON 2024 - 2024 IEEE Region 10 Conference (TENCON), Singapore, Singapore, 2024, pp. 1294-1297, </a:t>
            </a:r>
            <a:r>
              <a:rPr lang="en-IN" sz="1800" dirty="0" err="1"/>
              <a:t>doi</a:t>
            </a:r>
            <a:r>
              <a:rPr lang="en-IN" sz="1800" dirty="0"/>
              <a:t>: 10.1109/TENCON61640.2024.10902975.</a:t>
            </a:r>
          </a:p>
          <a:p>
            <a:pPr marL="0" indent="0">
              <a:buNone/>
            </a:pPr>
            <a:r>
              <a:rPr lang="en-IN" sz="1800" dirty="0"/>
              <a:t> </a:t>
            </a:r>
          </a:p>
          <a:p>
            <a:pPr marL="0" indent="0">
              <a:buNone/>
            </a:pPr>
            <a:r>
              <a:rPr lang="en-GB" sz="1800" dirty="0"/>
              <a:t>[8] X. Mitre and M. Zeneli, "Using AI to Improve Accessibility and Inclusivity in Higher Education for Students with Disabilities," 2024 21st International Conference on Information Technology Based Higher Education and Training (ITHET), Paris, France, 2024, pp. 1-8, </a:t>
            </a:r>
            <a:r>
              <a:rPr lang="en-GB" sz="1800" dirty="0" err="1"/>
              <a:t>doi</a:t>
            </a:r>
            <a:r>
              <a:rPr lang="en-GB" sz="1800" dirty="0"/>
              <a:t>: 10.1109/ITHET61869.2024.10837607.</a:t>
            </a:r>
            <a:endParaRPr lang="en-IN" sz="1800" dirty="0"/>
          </a:p>
          <a:p>
            <a:pPr marL="0" indent="0">
              <a:buNone/>
            </a:pPr>
            <a:r>
              <a:rPr lang="en-IN" sz="1800" dirty="0"/>
              <a:t> </a:t>
            </a:r>
          </a:p>
        </p:txBody>
      </p:sp>
    </p:spTree>
    <p:extLst>
      <p:ext uri="{BB962C8B-B14F-4D97-AF65-F5344CB8AC3E}">
        <p14:creationId xmlns:p14="http://schemas.microsoft.com/office/powerpoint/2010/main" val="3551999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AF0EF1-6FEC-9F88-1F25-6759A04DFBBB}"/>
              </a:ext>
            </a:extLst>
          </p:cNvPr>
          <p:cNvSpPr txBox="1"/>
          <p:nvPr/>
        </p:nvSpPr>
        <p:spPr>
          <a:xfrm>
            <a:off x="381000" y="533400"/>
            <a:ext cx="8382000" cy="2585323"/>
          </a:xfrm>
          <a:prstGeom prst="rect">
            <a:avLst/>
          </a:prstGeom>
          <a:noFill/>
        </p:spPr>
        <p:txBody>
          <a:bodyPr wrap="square">
            <a:spAutoFit/>
          </a:bodyPr>
          <a:lstStyle/>
          <a:p>
            <a:pPr marL="0" indent="0">
              <a:buNone/>
            </a:pPr>
            <a:r>
              <a:rPr lang="en-IN" sz="1800" dirty="0"/>
              <a:t>[9] A. P. Putra, M. </a:t>
            </a:r>
            <a:r>
              <a:rPr lang="en-IN" sz="1800" dirty="0" err="1"/>
              <a:t>Arafik</a:t>
            </a:r>
            <a:r>
              <a:rPr lang="en-IN" sz="1800" dirty="0"/>
              <a:t> and I. Pratiwi, "Use of Nearpod to Enhance Student Engagement in Online Learning," 2021 7th International Conference on Education and Technology (ICET), Malang, Indonesia, 2021, pp. 298-303, </a:t>
            </a:r>
            <a:r>
              <a:rPr lang="en-IN" sz="1800" dirty="0" err="1"/>
              <a:t>doi</a:t>
            </a:r>
            <a:r>
              <a:rPr lang="en-IN" sz="1800" dirty="0"/>
              <a:t>: 10.1109/ICET53279.2021.9575062</a:t>
            </a:r>
          </a:p>
          <a:p>
            <a:pPr marL="0" indent="0">
              <a:buNone/>
            </a:pPr>
            <a:r>
              <a:rPr lang="en-IN" sz="1800" dirty="0"/>
              <a:t> </a:t>
            </a:r>
          </a:p>
          <a:p>
            <a:pPr marL="0" indent="0">
              <a:buNone/>
            </a:pPr>
            <a:r>
              <a:rPr lang="en-IN" sz="1800" dirty="0"/>
              <a:t>[10] Acosta Vergara, C. A., Hurtado Mora, M. J., Saucedo James, M. A., &amp;Milanés Gómez, R. (2023). Virtual teaching strategy for online learning of the subject Entrepreneurship and Management at the baccalaureate level.'.</a:t>
            </a:r>
          </a:p>
          <a:p>
            <a:pPr marL="0" indent="0">
              <a:buNone/>
            </a:pPr>
            <a:r>
              <a:rPr lang="en-IN" sz="1800" dirty="0"/>
              <a:t> </a:t>
            </a:r>
          </a:p>
        </p:txBody>
      </p:sp>
    </p:spTree>
    <p:extLst>
      <p:ext uri="{BB962C8B-B14F-4D97-AF65-F5344CB8AC3E}">
        <p14:creationId xmlns:p14="http://schemas.microsoft.com/office/powerpoint/2010/main" val="1571966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1970</Words>
  <Application>Microsoft Office PowerPoint</Application>
  <PresentationFormat>On-screen Show (4:3)</PresentationFormat>
  <Paragraphs>184</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Times New Roman</vt:lpstr>
      <vt:lpstr>Wingdings</vt:lpstr>
      <vt:lpstr>Office Theme</vt:lpstr>
      <vt:lpstr>PowerPoint Presentation</vt:lpstr>
      <vt:lpstr>AGENDA</vt:lpstr>
      <vt:lpstr>ABSTRACT</vt:lpstr>
      <vt:lpstr>INTRODUCTION</vt:lpstr>
      <vt:lpstr>Literature Survey</vt:lpstr>
      <vt:lpstr>PROBLEM STATEMENT </vt:lpstr>
      <vt:lpstr>PowerPoint Presentation</vt:lpstr>
      <vt:lpstr>PowerPoint Presentation</vt:lpstr>
      <vt:lpstr>Methodology</vt:lpstr>
      <vt:lpstr>Algorithm</vt:lpstr>
      <vt:lpstr>PowerPoint Presentation</vt:lpstr>
      <vt:lpstr>PowerPoint Presentation</vt:lpstr>
      <vt:lpstr>Project implementation</vt:lpstr>
      <vt:lpstr>Results</vt:lpstr>
      <vt:lpstr>PowerPoint Presentation</vt:lpstr>
      <vt:lpstr>Conclusion</vt:lpstr>
      <vt:lpstr>Social Benefits</vt:lpstr>
      <vt:lpstr> Future Work </vt:lpstr>
      <vt:lpstr>Paper Indexing/Acceptance status</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Horizon College of Engineering Project Implementation &amp; Paper Publication Status</dc:title>
  <dc:creator>Subhasree</dc:creator>
  <cp:lastModifiedBy>Sanjana H L (Nokia)</cp:lastModifiedBy>
  <cp:revision>20</cp:revision>
  <dcterms:created xsi:type="dcterms:W3CDTF">2006-08-16T00:00:00Z</dcterms:created>
  <dcterms:modified xsi:type="dcterms:W3CDTF">2025-10-27T02:59:41Z</dcterms:modified>
</cp:coreProperties>
</file>